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645920"/>
            <a:ext cx="5943600" cy="5943600"/>
          </a:xfrm>
          <a:prstGeom prst="ellipse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4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INFORMATION VISUALIZATION  ·  JRL780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Navigating the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Global &amp; India-Centric Visual Analytics
of Tech Layoffs  (2020 –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4114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Soumya Samanvaya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Entry No. 2025EEY7601  ·  IIT Delhi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Data: layoffs.fyi  ·  Stack: Python · Pandas · Streamlit · Plotly ·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39903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4721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7568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Data Sources &amp; Collection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42615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7157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3405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Data Cleaning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00984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7413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447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Imputation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59352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03250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50791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Global Choropleth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69087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09159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764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India Hub Deep-Dive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76088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34924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6752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422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Industry Breakdown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934456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600760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2589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" y="6080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Temporal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79" y="1325880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6519" y="139903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19" y="141732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1" y="14721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Temporal Animation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79" y="1984248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19" y="205740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19" y="207568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1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Comparison Mode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79" y="2642615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46519" y="27157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19" y="273405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1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K-Means Clustering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79" y="3300984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46519" y="337413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19" y="339242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6871" y="34472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Key Findings — Global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79" y="3959352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46519" y="403250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19" y="4050791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76871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Key Findings — India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79" y="4617720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46519" y="469087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19" y="4709159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871" y="4764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79" y="5276088"/>
            <a:ext cx="5532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46519" y="534924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19" y="536752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76871" y="5422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Next Steps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Since 2022, tech has faced unprecedented volatility — initial 'pandemic corrections'
have evolved into structural corporate restructuring through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7589520" cy="53035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4864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Over 1 million jobs lost across 4,133 events in 48 countries (2020–2026)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81528"/>
            <a:ext cx="7589520" cy="53035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81528"/>
            <a:ext cx="54864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India is now a primary node — 330 events, 81K+ jobs lost across 6 major tech hubs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39896"/>
            <a:ext cx="7589520" cy="53035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39896"/>
            <a:ext cx="54864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5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Standard news lacks spatial, temporal, and sectoral comparative depth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98264"/>
            <a:ext cx="7589520" cy="53035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98264"/>
            <a:ext cx="54864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970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No existing tool provides Macro-to-Micro drill-down from global → country → 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325880"/>
            <a:ext cx="329184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325880"/>
            <a:ext cx="54864" cy="4846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737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6366F1"/>
                </a:solidFill>
                <a:latin typeface="Calibri"/>
              </a:rPr>
              <a:t>~1M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8F0"/>
                </a:solidFill>
                <a:latin typeface="Calibri"/>
              </a:rPr>
              <a:t>jobs lost globally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4,133 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2B6"/>
                </a:solidFill>
                <a:latin typeface="Calibri"/>
              </a:rPr>
              <a:t>48  countries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9F27"/>
                </a:solidFill>
                <a:latin typeface="Calibri"/>
              </a:rPr>
              <a:t>330  India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2020  →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 Sources &amp;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Primary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layoffs.fyi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95728"/>
            <a:ext cx="31089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Real-time tracker
4,133 events · 48 countries
PDF exported → pdftotext
→ Regex parser → Pandas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27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Secondary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Kaggle (Swaptr)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395728"/>
            <a:ext cx="31089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Structured CSV dataset
Historical baseline 2020–2025
Used for validation
&amp; cross-referencing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37160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371600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27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India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Calibri"/>
              </a:rPr>
              <a:t>Indian Layoffs Tracker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395728"/>
            <a:ext cx="31089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5146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City-level granularity
Bengaluru · Gurugram
Mumbai · Noida
New Delhi · Chennai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Collection Pipeline: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91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PDF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62910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6291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pdftotext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62910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6291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Regex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62910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291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Pandas Cleaning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2910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6291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6F1"/>
                </a:solidFill>
                <a:latin typeface="Calibri"/>
              </a:rPr>
              <a:t>Clean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 Cleaning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1737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Country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PDF parser jammed stage + funds + country into one field.
206 rows rescued; unrecoverable → dropped.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" cy="17373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1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Removed 21 duplicate company+date events.
Same layoff recorded twice in source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54864" cy="173736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Outlier Capping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56231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502 suspicious 'total = 1' artifacts → NaN.
Large estimates capped at 95th percentile (950).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54864" cy="17373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83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Stage / Industry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76472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Truncated values (Post-I…, Manufac…) expanded.
URL bleed-through in stage column → 'Unknown'.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24612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246120"/>
            <a:ext cx="54864" cy="173736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383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Non-Indian City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76472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4 rogue rows (SF Bay Area, Jakarta) removed
from India dataset — company HQ mismatch.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365760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246120"/>
            <a:ext cx="54864" cy="173736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383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Column Pruning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76472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Dropped funds_raised_millions + stage columns.
Not used in any visualization — reduces noise.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Missing Data &amp; Imputation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432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366F1"/>
                </a:solidFill>
                <a:latin typeface="Calibri"/>
              </a:rPr>
              <a:t>946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Missing
total_laid_off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22.9% of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7432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54864" cy="1234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2B6"/>
                </a:solidFill>
                <a:latin typeface="Calibri"/>
              </a:rPr>
              <a:t>1,533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Missing
% laid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37.1% of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27432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4864" cy="123444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9F27"/>
                </a:solidFill>
                <a:latin typeface="Calibr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Missing
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3.2% of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25880"/>
            <a:ext cx="27432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325880"/>
            <a:ext cx="54864" cy="1234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9E75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Still missing
after impute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target achieved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3657600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54864" cy="3246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Calibri"/>
              </a:rPr>
              <a:t>496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Have % but no 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41648"/>
            <a:ext cx="310896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8795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Estimated as:
total = % × median implied
company size per industry
(derived from rows where both known)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971800"/>
            <a:ext cx="3657600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2971800"/>
            <a:ext cx="54864" cy="32461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8ADD"/>
                </a:solidFill>
                <a:latin typeface="Calibri"/>
              </a:rPr>
              <a:t>450 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Have neither count nor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4041648"/>
            <a:ext cx="310896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18795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Estimated as:
total = industry median
actual count
(conservative floor estimate)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971800"/>
            <a:ext cx="3657600" cy="3246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2971800"/>
            <a:ext cx="54864" cy="3246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9F27"/>
                </a:solidFill>
                <a:latin typeface="Calibri"/>
              </a:rPr>
              <a:t>Outlier 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Large estimates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4041648"/>
            <a:ext cx="310896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18795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Estimates &gt; 950 (95th pctile
of actual values) capped.
Prevents inflated Hardware
estimates from skewing totals.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291072"/>
            <a:ext cx="11274552" cy="411480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⚠️  946 imputed records are flagged with is_estimated=True in the CSV — charts show a disclaimer so readers know totals are approximate.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Global Layoff Intensity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772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[Screenshot: Global Choropleth Map — Tab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325880"/>
            <a:ext cx="33832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325880"/>
            <a:ext cx="54864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399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USA dominates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4650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731K layoffs — 72%
of global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377439"/>
            <a:ext cx="33832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377439"/>
            <a:ext cx="54864" cy="9601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4505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India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98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79.9K — 7.9%
of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429000"/>
            <a:ext cx="33832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3429000"/>
            <a:ext cx="54864" cy="9601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502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Germany 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84962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34.7K — primarily
hardware sector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480559"/>
            <a:ext cx="33832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4480559"/>
            <a:ext cx="54864" cy="960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553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48 countries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90118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affected across
every continent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India Tech Hub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772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[Screenshot: India Bubble Map — Tab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325880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132588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399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Bengaluru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43,831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75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54.0%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95560" y="1325880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95560" y="1325880"/>
            <a:ext cx="54864" cy="11430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399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ADD"/>
                </a:solidFill>
                <a:latin typeface="Calibri"/>
              </a:rPr>
              <a:t>Gurugram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12,359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075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15.2%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606039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606039"/>
            <a:ext cx="54864" cy="1143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6791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Mumbai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9717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9,588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35584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11.8%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95560" y="2606039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95560" y="2606039"/>
            <a:ext cx="54864" cy="11430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26791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9F27"/>
                </a:solidFill>
                <a:latin typeface="Calibri"/>
              </a:rPr>
              <a:t>New Delhi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9717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5,867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35584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886200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3886200"/>
            <a:ext cx="54864" cy="1143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  <a:latin typeface="Calibri"/>
              </a:rPr>
              <a:t>Noida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5,753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636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7.1%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5560" y="3886200"/>
            <a:ext cx="16002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3886200"/>
            <a:ext cx="54864" cy="11430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4B4A"/>
                </a:solidFill>
                <a:latin typeface="Calibri"/>
              </a:rPr>
              <a:t>Others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3,856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636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Industry Breakdown — Sunburst &amp; Donut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772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[Screenshot: Industry Sunburst + Donut — Tab 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325880"/>
            <a:ext cx="33832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325880"/>
            <a:ext cx="54864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399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399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366F1"/>
                </a:solidFill>
                <a:latin typeface="Calibri"/>
              </a:rPr>
              <a:t>117.7K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7099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layoffs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167128"/>
            <a:ext cx="33832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167128"/>
            <a:ext cx="54864" cy="7498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78ADD"/>
                </a:solidFill>
                <a:latin typeface="Calibri"/>
              </a:rPr>
              <a:t>111.2K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5511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layoffs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008376"/>
            <a:ext cx="33832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3008376"/>
            <a:ext cx="54864" cy="7498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081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472B6"/>
                </a:solidFill>
                <a:latin typeface="Calibri"/>
              </a:rPr>
              <a:t>110.0K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3924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layoffs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849624"/>
            <a:ext cx="33832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849624"/>
            <a:ext cx="54864" cy="7498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922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9F27"/>
                </a:solidFill>
                <a:latin typeface="Calibri"/>
              </a:rPr>
              <a:t>72.8K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233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layoffs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4690872"/>
            <a:ext cx="338328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4690872"/>
            <a:ext cx="54864" cy="7498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4764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764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D9E75"/>
                </a:solidFill>
                <a:latin typeface="Calibri"/>
              </a:rPr>
              <a:t>55.4K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layoffs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Temporal Analysis — Layoff Waves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276956"/>
            <a:ext cx="1124712" cy="837843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91,708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2" y="3957048"/>
            <a:ext cx="1124712" cy="157751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17,267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3904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32504" y="2403829"/>
            <a:ext cx="1124712" cy="171097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187,278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77256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371600"/>
            <a:ext cx="1124712" cy="274320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7256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300,263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9208" y="2478891"/>
            <a:ext cx="1124712" cy="16359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179,062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2857779"/>
            <a:ext cx="1124712" cy="12570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137,590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97312" y="1371600"/>
            <a:ext cx="158191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25912" y="3261151"/>
            <a:ext cx="1124712" cy="8536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7312" y="4983480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2026*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2" y="532180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93,438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2023 was the peak year — post-pandemic overcorrection.
300,263 jobs lost. January 2023 alone saw 95,317 — the single worst month ever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Temporal Animation &amp;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589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[Screenshot: Animated Choropleth + Industry×Year Heatmap — Tab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56616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Animated choropleth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Press ▶ Play — watch layoff waves spread country-by-country from 2020 to 2026 in real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56616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743200"/>
            <a:ext cx="54864" cy="1143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3-month rolling avg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186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Wave detection overlay on monthly bar chart — highlights herding behaviour across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023360"/>
            <a:ext cx="356616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023360"/>
            <a:ext cx="54864" cy="11430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Industry × Year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988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Cross-tab of all 30 industries vs 7 years — reveals which sectors peaked in which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Comparison Mode — Side-by-Side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7589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[Screenshot: Comparison Tab — Line Chart + Radar — Tab 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1732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417320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Company vs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56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Compare any two companies on monthly layoff timeline, KPI cards, and radar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2316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23160"/>
            <a:ext cx="54864" cy="9144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City vs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62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Any two global cities — SF Bay Area vs Bengaluru, London vs Berlin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42900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429000"/>
            <a:ext cx="54864" cy="9144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Radar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67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5-axis profile: total, avg %, events, avg per event — normalised 0–1 for fair comparison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43484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434840"/>
            <a:ext cx="54864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873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Peak month, primary sector, total events — side by side for instant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VISUALIZATION 06 +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2,719 companies clustered into 4 groups using 5 features: total laid off, events count, avg per event,
avg % workforce, and layoff span in years. Features log-transformed + standardised. k=4 (silhouette = 0.45).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4864" cy="3840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Serial Downsizers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394 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22860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Large repeated rounds
over 2+ years.
Avg 1,664 per event.
Amazon · Intel · Meta · Oracle · Microsoft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54864" cy="38404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ADD"/>
                </a:solidFill>
                <a:latin typeface="Calibri"/>
              </a:rPr>
              <a:t>Moderate Cutters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1,620 companies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218688"/>
            <a:ext cx="22860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Single mid-size round.
Most common pattern.
Avg 141 total.
VMware · Xerox · OLX · Hewlett Packard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33172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331720"/>
            <a:ext cx="54864" cy="38404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Calibri"/>
              </a:rPr>
              <a:t>Acute Cutters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290 companies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18688"/>
            <a:ext cx="22860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Laid off high % in one go.
Avg 90% workforce cut.
Flink · Northvolt · Toshiba · Zulily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331720"/>
            <a:ext cx="274320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331720"/>
            <a:ext cx="54864" cy="384048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4B4A"/>
                </a:solidFill>
                <a:latin typeface="Calibri"/>
              </a:rPr>
              <a:t>Shutdown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880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415 companies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218688"/>
            <a:ext cx="22860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33375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Near-100% cuts.
Small startups effectively
closed operations.
Avg just 6 employees laid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Clustering — Scatter &amp;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[Screenshot: Clustering Tab — Scatter Plot + Box Plot + Industry Bar — Tab 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118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Replace with app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scatter plot (x=events, y=total laid off, bubble=avg per event) visually separates the 4 clusters.
Box plots show the distribution of % workforce cut — Acute Cutters have a very high median (~90%) vs Serial Downsizers (~17%).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Findings —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1874519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Post-IPO Paradox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Public companies shed the most jobs — avg 701 per event vs ~89 for early-stage. Scale enables mass restructuring.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" cy="187451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2023: The Great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300,263 jobs lost in one year — driven by post-pandemic overcorrection after record 2021 hiring across Big Tech.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54864" cy="1874519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January 2023 Shock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95,317 jobs in a single month. Amazon, Google, Microsoft &amp; Salesforce all announced simultaneously — herd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54864" cy="1874519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Hardware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Retail (117K) + Hardware (111K) + Consumer (110K) = 33% of all global layoffs despite being only 3 of 30 industries.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33756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337560"/>
            <a:ext cx="54864" cy="1874519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325 Shutdowns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862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325 companies cut 100% of workforce. Peaked at 88 in 2023. An era of closures, not just restructuring.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337560"/>
            <a:ext cx="365760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337560"/>
            <a:ext cx="54864" cy="1874519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2026: Still ongoing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8620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93K already lost by April 2026 — Oracle alone cut 30,000. The wave has not ended.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Findings —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India accounts for 7.9% of global layoffs (79.9K) across 330 events — disproportionately high given its tech workforce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" cy="1920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Bengaluru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43,831 laid off — 54% of all India layoffs.
Both the startup capital and the risk epicentre.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54864" cy="19202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EdTech collapsed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Education leads with 16,802 layoffs.
Byju's (9,200) + Unacademy alone = 11,000+.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10312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54864" cy="192024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Finance under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3347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10,564 laid off — Paytm, CRED, Razorpay
all faced significant workforce reductions.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" cy="19202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Food sector hit hard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9,215 food-delivery layoffs — Swiggy,
Zomato, Dunzo restructured post-pandemic.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20624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54864" cy="19202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NCR rising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365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Gurugram (12,359) + Noida (5,753) +
New Delhi (5,867) = 29% of India total.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206240"/>
            <a:ext cx="36576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206240"/>
            <a:ext cx="54864" cy="192024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2023 peak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365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India's worst year was also 2023 —
aligning with the global Big Tech correction.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Clustering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K-Means (k=4, silhouette=0.45) reveals four structurally distinct company archetypes in tech layoffs.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" cy="1920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Serial Downsizers (394)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Represent only 14.5% of companies but hold 70%+ of total layoffs. These are the biggest names — Amazon, Intel, Meta, Oracle, Microsoft. Pattern: consistent restructuring over 2-6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54864" cy="19202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Moderate Cutters (1,620)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The most common class (59.6%). Single moderate round, often tied to a specific product pivot or funding squeeze. Avg 141 total — manageable but significant.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54864" cy="192024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Acute Cutters (290)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 single catastrophic round averaging 90% workforce cut. Often pre-shutdown pivots or failed unicorns. High % distinguishes them from Shutdown Risk (which are tiny absolute numbers).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069080"/>
            <a:ext cx="54864" cy="192024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Shutdown Risk (415)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Tiny startups with effectively 100% cuts — avg only 6 people laid off. These are seed/Series A companies that quietly folded during the 2022-23 funding winter.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 Stack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Core language for all data processing, parsing, cleaning, imputation, and clustering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71600"/>
            <a:ext cx="54864" cy="13258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Pandas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Data wrangling — merge, clean, impute 946 rows, aggregate,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54864" cy="1325880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Streamlit 1.35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4728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6-tab interactive web dashboard — sidebar filters, live chart updates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88036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880360"/>
            <a:ext cx="54864" cy="13258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Plotly 5.20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4728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All 12+ charts — choropleth, scatter-geo, sunburst, animated maps, radar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89120"/>
            <a:ext cx="54864" cy="13258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Scikit-learn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560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StandardScaler + KMeans — company volatility clustering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38912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389120"/>
            <a:ext cx="54864" cy="13258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526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pdftotext + Regex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560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PDF extraction — 4,133 records parsed from layoffs.fyi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User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 task-based usability study with 5–7 participants to validate that the tool makes
tend identification easier than reading raw news or static reports.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11274552" cy="71323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4864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04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Task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048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Which country had the most layoffs in 2023?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3405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Navigation: Global Map → choropleth → hover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9F27"/>
                </a:solidFill>
                <a:latin typeface="Calibri"/>
              </a:rPr>
              <a:t>Timed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74552" cy="71323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4864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Task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821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Which Indian city was hit hardest by EdTech layoffs?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1129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Navigation: India Hub → city filter → industry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9F27"/>
                </a:solidFill>
                <a:latin typeface="Calibri"/>
              </a:rPr>
              <a:t>Timed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1274552" cy="71323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54864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9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Task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593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Compare Google vs Amazon — who had more events?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8853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Navigation: Comparison Mode → radar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069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9F27"/>
                </a:solidFill>
                <a:latin typeface="Calibri"/>
              </a:rPr>
              <a:t>Timed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1274552" cy="71323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Task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365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Find which cluster Byju's belongs 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6577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Navigation: Clustering → company lookup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9F27"/>
                </a:solidFill>
                <a:latin typeface="Calibri"/>
              </a:rPr>
              <a:t>Timed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40679"/>
            <a:ext cx="11274552" cy="713232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40679"/>
            <a:ext cx="54864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138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Task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51383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When was the global layoff wave at its peak?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4301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Navigation: Temporal tab → rolling avg chart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623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9F27"/>
                </a:solidFill>
                <a:latin typeface="Calibri"/>
              </a:rPr>
              <a:t>Timed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User Study — Metrics &amp; Questionnaire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Quantitative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Task completion rate (% of 5 tasks completed)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7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Time-on-task per question (seconds)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16935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99815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0083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Error rate (wrong answers / hesitations)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38143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21023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5295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Navigation path correctness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42231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42231"/>
            <a:ext cx="54864" cy="4114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1538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Baseline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99431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91440" cy="914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69087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Same 5 questions answered using raw 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03520"/>
            <a:ext cx="91440" cy="914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Compare time + accuracy: Tool vs Spreadsheet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4184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24728"/>
            <a:ext cx="91440" cy="914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733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Measures the 'visualization advantage'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417320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417320"/>
            <a:ext cx="54864" cy="4114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490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Post-Study Questionnaire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874519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2057400"/>
            <a:ext cx="9144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Q1: How easy was it to find the information? (1–5)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395727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2578608"/>
            <a:ext cx="9144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Q2: Did the charts help you understand trends? (1–5)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916935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0" y="3099815"/>
            <a:ext cx="9144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300837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Q3: Which tab did you find most useful? (open)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438143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3621023"/>
            <a:ext cx="9144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35295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Q4: What was confusing or hard to use? (open)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959351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0" y="4142231"/>
            <a:ext cx="9144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40507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Q5: Would you use this tool professionally? (Y/N)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5166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Done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Data extracted from layoffs.fyi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16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Full cleaning &amp; imputation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57015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66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Streamlit app — 6 tabs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06824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16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K-Means clustering (k=4)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56631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66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% vs absolute toggle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161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Draft PPT (this deck)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325880"/>
            <a:ext cx="365760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325880"/>
            <a:ext cx="54864" cy="516636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9F27"/>
                </a:solidFill>
                <a:latin typeface="Calibri"/>
              </a:rPr>
              <a:t>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057400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167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Add app screenshots to final PPT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807208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916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Conduct user study (5-7 participants)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557015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66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Collect &amp; analyse study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4306824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416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Expand analysis with % toggle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325880"/>
            <a:ext cx="365760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325880"/>
            <a:ext cx="54864" cy="51663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463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2B6"/>
                </a:solidFill>
                <a:latin typeface="Calibri"/>
              </a:rPr>
              <a:t>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057400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167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Final 20-25 slide polished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807208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916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User study findings slide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557015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6667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Sub-sector industry hierarchy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306824"/>
            <a:ext cx="3291840" cy="658368"/>
          </a:xfrm>
          <a:prstGeom prst="rect">
            <a:avLst/>
          </a:prstGeom>
          <a:solidFill>
            <a:srgbClr val="13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416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Potential: deploy on Streamlit Cloud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IIT Delhi  ·  Information Visualization (JRL780)  ·  Entry 2025EEY7601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16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457200"/>
            <a:ext cx="4572000" cy="4572000"/>
          </a:xfrm>
          <a:prstGeom prst="ellipse">
            <a:avLst/>
          </a:prstGeom>
          <a:solidFill>
            <a:srgbClr val="12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063240"/>
            <a:ext cx="44805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  <a:latin typeface="Calibri"/>
              </a:rPr>
              <a:t>Soumya Samanvaya  ·  Entry 2025EEY7601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IIT Delhi  ·  Information Visualization (JRL780)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Data: layoffs.fyi  ·  Stack: Python · Pandas · Streamlit · Plotly · 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  <a:latin typeface="Calibri"/>
              </a:rPr>
              <a:t>github / 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