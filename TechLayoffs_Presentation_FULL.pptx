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828800"/>
            <a:ext cx="6400800" cy="6400800"/>
          </a:xfrm>
          <a:prstGeom prst="ellipse">
            <a:avLst/>
          </a:prstGeom>
          <a:solidFill>
            <a:srgbClr val="1A1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3840480"/>
            <a:ext cx="4114800" cy="4114800"/>
          </a:xfrm>
          <a:prstGeom prst="ellipse">
            <a:avLst/>
          </a:prstGeom>
          <a:solidFill>
            <a:srgbClr val="14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  <a:latin typeface="Calibri"/>
              </a:rPr>
              <a:t>INFORMATION VISUALIZATION  ·  ELL8224  ·  IIT DELHI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Navigating the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2E8F0"/>
                </a:solidFill>
                <a:latin typeface="Calibri"/>
              </a:rPr>
              <a:t>Global &amp; India-Centric Visual Analytics of Tech Layoffs
2020 –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93008"/>
            <a:ext cx="457200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675887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2E8F0"/>
                </a:solidFill>
                <a:latin typeface="Calibri"/>
              </a:rPr>
              <a:t>Soumya Samanvaya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7822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Entry No. 2025EEY7601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6227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Data: layoffs.fyi  ·  Stack: Python · Pandas · Streamlit · Plotly · Scikit-learn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0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🌐  layoffs-analytics-ksw56g9tgg2trnkrdasbcq.streamlit.app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5623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81328"/>
            <a:ext cx="54864" cy="1417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938528"/>
            <a:ext cx="475488" cy="47548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5681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1645920"/>
            <a:ext cx="4709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075688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Problem · Research questions · Objectives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481328"/>
            <a:ext cx="5623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54864" cy="1417320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1938528"/>
            <a:ext cx="475488" cy="475488"/>
          </a:xfrm>
          <a:prstGeom prst="ellipse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5681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1645920"/>
            <a:ext cx="4709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Related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2075688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Existing tools · Gap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054096"/>
            <a:ext cx="5623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054096"/>
            <a:ext cx="54864" cy="14173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3511296"/>
            <a:ext cx="475488" cy="475488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52958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3218688"/>
            <a:ext cx="4709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Data &amp; EDA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" y="3648456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Sources · Cleaning · Imputation · Insights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054096"/>
            <a:ext cx="5623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054096"/>
            <a:ext cx="54864" cy="141732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92240" y="3511296"/>
            <a:ext cx="475488" cy="475488"/>
          </a:xfrm>
          <a:prstGeom prst="ellipse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52958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4888" y="3218688"/>
            <a:ext cx="4709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Model / Algorithm / Method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3648456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K-Means · Rolling window · Bubble agg · Toggle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26864"/>
            <a:ext cx="5623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626864"/>
            <a:ext cx="54864" cy="141732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0080" y="5084064"/>
            <a:ext cx="475488" cy="475488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10235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2728" y="4791456"/>
            <a:ext cx="4709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Results &amp; Findings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2728" y="5221224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Global · India · Clustering insights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626864"/>
            <a:ext cx="5623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55080" y="4626864"/>
            <a:ext cx="54864" cy="1417320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92240" y="5084064"/>
            <a:ext cx="475488" cy="475488"/>
          </a:xfrm>
          <a:prstGeom prst="ellipse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5102352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4888" y="4791456"/>
            <a:ext cx="4709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4888" y="5221224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Summary · Limitations · Planned extensions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914400"/>
            <a:ext cx="6400800" cy="6400800"/>
          </a:xfrm>
          <a:prstGeom prst="ellipse">
            <a:avLst/>
          </a:prstGeom>
          <a:solidFill>
            <a:srgbClr val="16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SECTION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502920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Problem definition · Research questions · Objectives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Between 2020 and 2026 the tech industry underwent its most severe workforce correction in history.
Initial pandemic-driven hiring surges reversed sharply — exposing structural overhiring and funding fragility.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23160"/>
            <a:ext cx="7772400" cy="74980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23160"/>
            <a:ext cx="54864" cy="7498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624328"/>
            <a:ext cx="6309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Over 1 million jobs lost across 4,133 events in 48 countries (2020–2026)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91839"/>
            <a:ext cx="7772400" cy="74980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291839"/>
            <a:ext cx="54864" cy="7498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930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India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3493008"/>
            <a:ext cx="6309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330 events · 79,913 jobs — India is a primary node, not just a side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7772400" cy="74980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4864" cy="749808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36168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9F27"/>
                </a:solidFill>
                <a:latin typeface="Calibri"/>
              </a:rPr>
              <a:t>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4361688"/>
            <a:ext cx="6309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Existing tools show raw tables — no maps, no animation, no India focus, no clustering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29200"/>
            <a:ext cx="7772400" cy="74980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029200"/>
            <a:ext cx="54864" cy="749808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9E75"/>
                </a:solidFill>
                <a:latin typeface="Calibri"/>
              </a:rPr>
              <a:t>Need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5230368"/>
            <a:ext cx="6309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A unified spatial + temporal + comparative visual analytics platform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1389888"/>
            <a:ext cx="3383280" cy="510235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80" y="1389888"/>
            <a:ext cx="54864" cy="51023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16916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6366F1"/>
                </a:solidFill>
                <a:latin typeface="Calibri"/>
              </a:rPr>
              <a:t>~1M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2402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jobs lost globally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8346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4,133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3832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layoff events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977639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472B6"/>
                </a:solidFill>
                <a:latin typeface="Calibri"/>
              </a:rPr>
              <a:t>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52627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countries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1206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4A3B8"/>
                </a:solidFill>
                <a:latin typeface="Calibri"/>
              </a:rPr>
              <a:t>2020–2026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566927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date 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Research Questions &amp;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Research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47088"/>
            <a:ext cx="548640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47088"/>
            <a:ext cx="54864" cy="93268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5681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956816"/>
            <a:ext cx="4434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Which countries, cities and industries bore the highest global layoff burden?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98648"/>
            <a:ext cx="548640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898648"/>
            <a:ext cx="54864" cy="93268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0837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008376"/>
            <a:ext cx="4434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How did India's pattern differ from the global trend — by sector and city?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50208"/>
            <a:ext cx="548640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50208"/>
            <a:ext cx="54864" cy="932688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5993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9F27"/>
                </a:solidFill>
                <a:latin typeface="Calibri"/>
              </a:rPr>
              <a:t>RQ3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4434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What temporal patterns (waves, shocks, seasonality) are visible 2020–2026?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001768"/>
            <a:ext cx="548640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001768"/>
            <a:ext cx="54864" cy="932688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1149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9E75"/>
                </a:solidFill>
                <a:latin typeface="Calibri"/>
              </a:rPr>
              <a:t>RQ4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111496"/>
            <a:ext cx="4434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Can companies be meaningfully clustered by their layoff behaviour profile?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Objectives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847088"/>
            <a:ext cx="539496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1847088"/>
            <a:ext cx="54864" cy="7863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392" y="198424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O1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1975104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Interactive 6-tab Streamlit dashboard — global → country → city drill-down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743200"/>
            <a:ext cx="539496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743200"/>
            <a:ext cx="54864" cy="786384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65392" y="28803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ADD"/>
                </a:solidFill>
                <a:latin typeface="Calibri"/>
              </a:rPr>
              <a:t>O2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2871216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India-centric view: city-level breakdown across 7 major tech hubs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639312"/>
            <a:ext cx="539496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3639312"/>
            <a:ext cx="54864" cy="786384"/>
          </a:xfrm>
          <a:prstGeom prst="rect">
            <a:avLst/>
          </a:prstGeom>
          <a:solidFill>
            <a:srgbClr val="7F7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65392" y="377647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F77DD"/>
                </a:solidFill>
                <a:latin typeface="Calibri"/>
              </a:rPr>
              <a:t>O3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767328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K-Means clustering of 2,719 companies into 4 volatility archetypes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535424"/>
            <a:ext cx="539496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4535424"/>
            <a:ext cx="54864" cy="786384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467258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9F27"/>
                </a:solidFill>
                <a:latin typeface="Calibri"/>
              </a:rPr>
              <a:t>O4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663440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Comparative mode — company vs company, city vs city, % vs absolute toggle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31536"/>
            <a:ext cx="5394960" cy="786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5431536"/>
            <a:ext cx="54864" cy="786384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55686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9E75"/>
                </a:solidFill>
                <a:latin typeface="Calibri"/>
              </a:rPr>
              <a:t>O5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5559551"/>
            <a:ext cx="4526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Publicly hosted on Streamlit Cloud + validated via structured user study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914400"/>
            <a:ext cx="6400800" cy="6400800"/>
          </a:xfrm>
          <a:prstGeom prst="ellipse">
            <a:avLst/>
          </a:prstGeom>
          <a:solidFill>
            <a:srgbClr val="16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ADD"/>
                </a:solidFill>
                <a:latin typeface="Calibri"/>
              </a:rPr>
              <a:t>SECTION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Related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5029200" cy="36576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Existing tools · Prior research · Our contribution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Existing Tools &amp; Prior 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54864" cy="2148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9105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  <a:latin typeface="Calibri"/>
              </a:rPr>
              <a:t>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layoffs.fyi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22576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4144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Real-time source. Raw table only — no maps, no timeline animation, no India city view, no clustering.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81328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81328"/>
            <a:ext cx="54864" cy="2148840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59105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78ADD"/>
                </a:solidFill>
                <a:latin typeface="Calibri"/>
              </a:rPr>
              <a:t>VIZ 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86537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Trueup.io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2322576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44144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Simple bar charts of layoffs by company. No geographic drill-down or comparison mode.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481328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481328"/>
            <a:ext cx="54864" cy="21488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59105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472B6"/>
                </a:solidFill>
                <a:latin typeface="Calibri"/>
              </a:rPr>
              <a:t>ACADEMIC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6537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D3.js / Observable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2322576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44144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Research-grade custom visualizations. Not accessible to non-technical users.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13048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13048"/>
            <a:ext cx="54864" cy="214884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2277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9F27"/>
                </a:solidFill>
                <a:latin typeface="Calibri"/>
              </a:rPr>
              <a:t>BI 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9709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Tableau / Power BI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54296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773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Enterprise dashboards exist. Require paid licences. No India city granularity.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13048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3813048"/>
            <a:ext cx="54864" cy="21488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92277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9E75"/>
                </a:solidFill>
                <a:latin typeface="Calibri"/>
              </a:rPr>
              <a:t>PAPER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19709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Bharti et al. (2023)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4654296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80" y="4773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NLP on layoff headlines. No interactive visualization; text-only; no spatial component.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3813048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3813048"/>
            <a:ext cx="54864" cy="2148840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92277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24B4A"/>
                </a:solidFill>
                <a:latin typeface="Calibri"/>
              </a:rPr>
              <a:t>INFOVIS '11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19709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Bertini &amp; Lalanne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4654296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4773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Calibri"/>
              </a:rPr>
              <a:t>Evaluation framework for viz tools — guided our user study task design and metrics.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Gap Analysis — Our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669280" cy="4846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4846320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24B4A"/>
                </a:solidFill>
                <a:latin typeface="Calibri"/>
              </a:rPr>
              <a:t>Existing tools lack…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76272"/>
            <a:ext cx="5303520" cy="84124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33172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Global choropleth with India city-level drill-down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63824"/>
            <a:ext cx="5303520" cy="84124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31927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Animated year-by-year temporal choropleth (2020→2026)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303520" cy="84124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30682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K-Means company clustering into 4 volatility archetypes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138928"/>
            <a:ext cx="5303520" cy="84124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5294376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Side-by-side entity comparison with radar profiling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417320"/>
            <a:ext cx="5669280" cy="4846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417320"/>
            <a:ext cx="54864" cy="484632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9E75"/>
                </a:solidFill>
                <a:latin typeface="Calibri"/>
              </a:rPr>
              <a:t>Our tool provides…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2176272"/>
            <a:ext cx="5303520" cy="84124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233172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6-tab interactive Streamlit dashboard — publicly hosted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163824"/>
            <a:ext cx="5303520" cy="84124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2" y="331927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4,133 real events from layoffs.fyi parsed from raw PDF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151376"/>
            <a:ext cx="5303520" cy="84124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8272" y="430682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K-Means (k=4, silhouette=0.45) on 2,719 companies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5138928"/>
            <a:ext cx="5303520" cy="84124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5294376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% vs absolute toggle + annotated timeline + cluster filter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914400"/>
            <a:ext cx="6400800" cy="6400800"/>
          </a:xfrm>
          <a:prstGeom prst="ellipse">
            <a:avLst/>
          </a:prstGeom>
          <a:solidFill>
            <a:srgbClr val="16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72B6"/>
                </a:solidFill>
                <a:latin typeface="Calibri"/>
              </a:rPr>
              <a:t>SECTION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Data &amp; Exploratory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502920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Sources · Collection · Cleaning · Imputation · EDA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Sources &amp; Collection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36576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54864" cy="2743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366F1"/>
                </a:solidFill>
                <a:latin typeface="Calibri"/>
              </a:rPr>
              <a:t>PRIMARY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layoffs.fyi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441448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78608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Real-time global tracker
4,133 events · 48 countries
PDF export → pdftotext → regex parser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444752"/>
            <a:ext cx="36576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44752"/>
            <a:ext cx="54864" cy="2743200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6002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78ADD"/>
                </a:solidFill>
                <a:latin typeface="Calibri"/>
              </a:rPr>
              <a:t>SECONDARY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90195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Kaggle (Swaptr)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441448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578608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Structured CSV baseline
2020–2025 historical data
Used for cross-validation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1444752"/>
            <a:ext cx="36576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1444752"/>
            <a:ext cx="54864" cy="27432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6002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472B6"/>
                </a:solidFill>
                <a:latin typeface="Calibri"/>
              </a:rPr>
              <a:t>INDIA FOCUS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190195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172A"/>
                </a:solidFill>
                <a:latin typeface="Calibri"/>
              </a:rPr>
              <a:t>Indian Layoffs Tracker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2441448"/>
            <a:ext cx="30175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2578608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City-level Indian events
Bengaluru · Gurugram · Mumbai
Noida · Chennai · New Delhi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274552" cy="17556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26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Collection Pipeline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956048"/>
            <a:ext cx="1664208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92624"/>
            <a:ext cx="1664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PDF Export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0008" y="5074920"/>
            <a:ext cx="21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0" y="4956048"/>
            <a:ext cx="1664208" cy="658368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4992624"/>
            <a:ext cx="1664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pdftotext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8" y="5074920"/>
            <a:ext cx="21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34840" y="4956048"/>
            <a:ext cx="1664208" cy="65836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4992624"/>
            <a:ext cx="1664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Regex Parser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9048" y="5074920"/>
            <a:ext cx="21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4956048"/>
            <a:ext cx="1664208" cy="658368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59" y="4992624"/>
            <a:ext cx="1664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Pandas Cleaning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7" y="5074920"/>
            <a:ext cx="21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4956048"/>
            <a:ext cx="1664208" cy="658368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83879" y="4992624"/>
            <a:ext cx="1664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Imputation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088" y="5074920"/>
            <a:ext cx="21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4956048"/>
            <a:ext cx="1664208" cy="658368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0" y="4992624"/>
            <a:ext cx="166420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Clean CSV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Cleaning &amp; Imputation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3657600" cy="17190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4864" cy="17190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Country rescue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3832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PDF jammed stage+funds+country into one field.
206 rows rescued via known-country matching.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89888"/>
            <a:ext cx="3657600" cy="17190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89888"/>
            <a:ext cx="54864" cy="1719072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5179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Deduplication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38528"/>
            <a:ext cx="33832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21 duplicate company+date events removed.
Same layoff recorded twice in source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389888"/>
            <a:ext cx="3657600" cy="17190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389888"/>
            <a:ext cx="54864" cy="171907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5179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Outlier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938528"/>
            <a:ext cx="33832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502 'total=1' parsing artifacts set to NaN.
Estimates capped at 95th percentile (950).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64408"/>
            <a:ext cx="3657600" cy="17190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64408"/>
            <a:ext cx="54864" cy="1719072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9242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Field repair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13048"/>
            <a:ext cx="33832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Truncated values (Post-I…, Manufac…) expanded.
URL bleed-through in stage → Unknown.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264408"/>
            <a:ext cx="3657600" cy="17190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264408"/>
            <a:ext cx="54864" cy="1719072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39242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City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13048"/>
            <a:ext cx="33832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Non-Indian cities (SF Bay Area, Jakarta, Patna)
removed from India dataset. Only hubs ≥100 layoffs.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264408"/>
            <a:ext cx="3657600" cy="17190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3264408"/>
            <a:ext cx="54864" cy="1719072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339242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Column pruning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813048"/>
            <a:ext cx="33832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Dropped funds_raised_millions + stage.
Not used in any visualization.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193792"/>
            <a:ext cx="11274552" cy="1389888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193792"/>
            <a:ext cx="54864" cy="138988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2180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Imputation — 946 missing counts (22.9%):  496 rows had % only → total = % × industry median headcount  ·  450 rows had neither → total = industry median count  ·  All imputed rows flagged: is_estimated = True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Exploratory Analysis — 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Systematic EDA across temporal, geographic, and sectoral dimensions drove every design decision in the dashboard.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93392"/>
            <a:ext cx="3657600" cy="1783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993392"/>
            <a:ext cx="54864" cy="1783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21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Temporal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23744"/>
            <a:ext cx="33832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2023 peak: 300,263 layoffs
Jan 2023 worst month: 95,317
2021 false calm: only 17,267
→ Shaped rolling avg window choice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993392"/>
            <a:ext cx="3657600" cy="1783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93392"/>
            <a:ext cx="54864" cy="1783080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21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Geographic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23744"/>
            <a:ext cx="33832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USA: 72% of all layoffs
Top 5 countries: 89% of total
Long tail: 43 minor countries
→ Drove choropleth + log scale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993392"/>
            <a:ext cx="3657600" cy="1783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993392"/>
            <a:ext cx="54864" cy="17830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21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Industry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23744"/>
            <a:ext cx="33832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Top 3 sectors: 33% of volume
Retail · Hardware · Consumer
30 distinct industries found
→ Justified treemap hierarchy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3657600" cy="1783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54864" cy="178308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599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62272"/>
            <a:ext cx="33832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Bengaluru: 54% of India total
EdTech crash 2022 (pre-global)
NCR cluster growing fast
→ Separate India tab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931920"/>
            <a:ext cx="3657600" cy="1783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931920"/>
            <a:ext cx="54864" cy="178308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0599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Missing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462272"/>
            <a:ext cx="33832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23% missing total_laid_off
37% missing % laid off
Corr(funds, count) = 0.28
→ Median imputation chosen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931920"/>
            <a:ext cx="3657600" cy="1783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3931920"/>
            <a:ext cx="54864" cy="1783080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599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Outliers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462272"/>
            <a:ext cx="33832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Amazon top (58K), Intel #2 (43K)
325 companies: 100% shutdown
Log transform needed for KMeans
→ Right-skew confirmed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914400"/>
            <a:ext cx="6400800" cy="6400800"/>
          </a:xfrm>
          <a:prstGeom prst="ellipse">
            <a:avLst/>
          </a:prstGeom>
          <a:solidFill>
            <a:srgbClr val="16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9F27"/>
                </a:solidFill>
                <a:latin typeface="Calibri"/>
              </a:rPr>
              <a:t>SECTION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Model / Algorithm /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5029200" cy="36576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K-Means · Rolling window · Bubble aggregation · % toggle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K-Means Clustering — Company Volatility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2,719 companies grouped into 4 archetypes based on HOW they behave during layoffs — not just how many they cut.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93392"/>
            <a:ext cx="5029200" cy="35478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993392"/>
            <a:ext cx="502920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 engineering +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14600"/>
            <a:ext cx="493776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total_laid_off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0592" y="2606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sum per company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060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9F27"/>
                </a:solidFill>
                <a:latin typeface="Calibri"/>
              </a:rPr>
              <a:t>Log-transformed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44952"/>
            <a:ext cx="493776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3639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num_events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2" y="31363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count of rounds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1363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9F27"/>
                </a:solidFill>
                <a:latin typeface="Calibri"/>
              </a:rPr>
              <a:t>Raw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493776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666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avg_per_event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0592" y="366674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mean headcount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36667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9F27"/>
                </a:solidFill>
                <a:latin typeface="Calibri"/>
              </a:rPr>
              <a:t>Log-transformed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05656"/>
            <a:ext cx="493776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709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pct_laid_off_avg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0592" y="41970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mean % workforce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41970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9F27"/>
                </a:solidFill>
                <a:latin typeface="Calibri"/>
              </a:rPr>
              <a:t>Raw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636008"/>
            <a:ext cx="493776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72744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span_years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50592" y="47274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first to last event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41648" y="47274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9F27"/>
                </a:solidFill>
                <a:latin typeface="Calibri"/>
              </a:rPr>
              <a:t>Raw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0" y="1993392"/>
            <a:ext cx="6126480" cy="35478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0" y="1993392"/>
            <a:ext cx="6126480" cy="36576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0" y="2084831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Pipeline &amp; silhouette scores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2514600"/>
            <a:ext cx="603504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15000" y="2514600"/>
            <a:ext cx="45720" cy="47548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70448" y="2606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StandardScaler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6368" y="2606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Zero mean, unit variance — prevents scale bias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0" y="3044952"/>
            <a:ext cx="603504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715000" y="3044952"/>
            <a:ext cx="45720" cy="475488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70448" y="31363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ADD"/>
                </a:solidFill>
                <a:latin typeface="Calibri"/>
              </a:rPr>
              <a:t>Log transform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8" y="31363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total_laid_off &amp; avg_per_event — right-skewed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15000" y="3575304"/>
            <a:ext cx="603504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715000" y="3575304"/>
            <a:ext cx="45720" cy="475488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70448" y="366674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Optimal 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6368" y="36667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k=2:0.38  k=3:0.41  k=4:0.45 ← best  k=5:0.43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0" y="4105656"/>
            <a:ext cx="603504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15000" y="4105656"/>
            <a:ext cx="45720" cy="475488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70448" y="41970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9E75"/>
                </a:solidFill>
                <a:latin typeface="Calibri"/>
              </a:rPr>
              <a:t>KMeans(k=4)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41970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random_state=42, n_init=10 — stable results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36008"/>
            <a:ext cx="6035040" cy="47548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5000" y="4636008"/>
            <a:ext cx="45720" cy="47548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70448" y="47274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Named clusters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16368" y="47274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Centroid profiles + top companies inspected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687568"/>
            <a:ext cx="2834640" cy="89611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5687568"/>
            <a:ext cx="54864" cy="8961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5779008"/>
            <a:ext cx="2633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Serial Downsizers (394)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" y="608076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Amazon · Intel · Meta — repeated cuts over years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01568" y="5687568"/>
            <a:ext cx="2834640" cy="89611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01568" y="5687568"/>
            <a:ext cx="54864" cy="896112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66160" y="5779008"/>
            <a:ext cx="2633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ADD"/>
                </a:solidFill>
                <a:latin typeface="Calibri"/>
              </a:rPr>
              <a:t>Moderate Cutters (1,620)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66160" y="608076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Most common — single mid-size round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45936" y="5687568"/>
            <a:ext cx="2834640" cy="89611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45936" y="5687568"/>
            <a:ext cx="54864" cy="896112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0528" y="5779008"/>
            <a:ext cx="2633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Acute Cutters (290)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0528" y="608076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~90% workforce in one go — near-shutdowns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90304" y="5687568"/>
            <a:ext cx="2834640" cy="89611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290304" y="5687568"/>
            <a:ext cx="54864" cy="896112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54896" y="5779008"/>
            <a:ext cx="2633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4B4A"/>
                </a:solidFill>
                <a:latin typeface="Calibri"/>
              </a:rPr>
              <a:t>Shutdown Risk (415)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54896" y="6080760"/>
            <a:ext cx="2633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Tiny startups that effectively closed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Supporting Algorithms &amp;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3730752" cy="5138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4864" cy="51389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Moving window aggregation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383280" cy="3657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57984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Purpose: detect layoff waves, smooth monthly noise
Method: 3-month rolling average on monthly total_laid_off.
Window: 1M too noisy; 6M masks shocks; 3M optimal.
Result: confirmed Jan 2023 as structural break, not seasonal.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389888"/>
            <a:ext cx="3730752" cy="5138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389888"/>
            <a:ext cx="54864" cy="5138928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53619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ADD"/>
                </a:solidFill>
                <a:latin typeface="Calibri"/>
              </a:rPr>
              <a:t>Geospatial bubble aggregation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44568" y="2011680"/>
            <a:ext cx="3383280" cy="3657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157984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Purpose: represent city-level impact proportionally on map
Method: sum(total_laid_off) per city → bubble area (size_max=60).
Coords: manually verified for 7 Indian tech hubs ≥100 layoffs.
Why bubbles? Choropleth at city level is misleading — Bengaluru's
geographic area is tiny despite 54% of India's layoffs.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66175" y="1389888"/>
            <a:ext cx="3730752" cy="5138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66175" y="1389888"/>
            <a:ext cx="54864" cy="513892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5" y="153619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72B6"/>
                </a:solidFill>
                <a:latin typeface="Calibri"/>
              </a:rPr>
              <a:t>% vs Absolute toggle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5" y="2011680"/>
            <a:ext cx="3383280" cy="3657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157984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Purpose: dual-mode analysis — severity vs scale
Absolute: sum(total_laid_off) grouped by dimension.
Percentage: mean(percentage_laid_off) grouped by dimension.
Why both? Amazon cutting 2% of 1.5M ≠ a startup cutting 90%.
Toggle reveals different rankings — Acute Cutters dominate in % mode.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914400"/>
            <a:ext cx="6400800" cy="6400800"/>
          </a:xfrm>
          <a:prstGeom prst="ellipse">
            <a:avLst/>
          </a:prstGeom>
          <a:solidFill>
            <a:srgbClr val="16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9E75"/>
                </a:solidFill>
                <a:latin typeface="Calibri"/>
              </a:rPr>
              <a:t>SECTION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Results &amp;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5029200" cy="36576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Global trends · India deep-dive · Clustering · Visualizations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VISUALIZATION 01 — GLOBAL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Global Layoff Intensity — Choropleth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7772400" cy="420624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7772400" cy="4206240"/>
          </a:xfrm>
          <a:prstGeom prst="rect">
            <a:avLst/>
          </a:prstGeom>
          <a:noFill/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18488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📸 SCREENSHOT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424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Tab: 🌍 Global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749807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Show the choropleth with all years selected (2020-2026).
Hover over USA to show 731,543 tooltip.
The Top-10 bar chart below should be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93207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Win+Shift+S → capture from the top of Tab 1 down to the bar chart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389888"/>
            <a:ext cx="3383280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389888"/>
            <a:ext cx="54864" cy="1170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4813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366F1"/>
                </a:solidFill>
                <a:latin typeface="Calibri"/>
              </a:rPr>
              <a:t>731K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011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USA layoffs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688336"/>
            <a:ext cx="3383280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688336"/>
            <a:ext cx="54864" cy="117043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277977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472B6"/>
                </a:solidFill>
                <a:latin typeface="Calibri"/>
              </a:rPr>
              <a:t>79.9K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33101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India layoffs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986783"/>
            <a:ext cx="3383280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3986783"/>
            <a:ext cx="54864" cy="1170432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4078223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F9F27"/>
                </a:solidFill>
                <a:latin typeface="Calibri"/>
              </a:rPr>
              <a:t>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460857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countries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5285231"/>
            <a:ext cx="3383280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5285231"/>
            <a:ext cx="54864" cy="1170432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53766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9E75"/>
                </a:solidFill>
                <a:latin typeface="Calibri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590702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USA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VISUALIZATION 02 — INDIA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India Tech Hub Deep-Dive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7772400" cy="420624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7772400" cy="4206240"/>
          </a:xfrm>
          <a:prstGeom prst="rect">
            <a:avLst/>
          </a:prstGeom>
          <a:noFill/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18488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📸 SCREENSHOT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424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Tab: 🇮🇳 India 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749807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Show the bubble map zoomed into India.
Bengaluru bubble should be visibly the largest.
The line chart below with COVID annotation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93207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Capture the full Tab 2 — bubble map + both charts below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389888"/>
            <a:ext cx="1627632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03920" y="1389888"/>
            <a:ext cx="54864" cy="1170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Bengaluru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773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44,138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1945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54%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22992" y="1389888"/>
            <a:ext cx="1627632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22992" y="1389888"/>
            <a:ext cx="54864" cy="1170432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2" y="1463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ADD"/>
                </a:solidFill>
                <a:latin typeface="Calibri"/>
              </a:rPr>
              <a:t>Gurugram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0152" y="1773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11,725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0152" y="21945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14%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2688336"/>
            <a:ext cx="1627632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2688336"/>
            <a:ext cx="54864" cy="117043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27614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72B6"/>
                </a:solidFill>
                <a:latin typeface="Calibri"/>
              </a:rPr>
              <a:t>Mumbai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07238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9,113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4930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11%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22992" y="2688336"/>
            <a:ext cx="1627632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22992" y="2688336"/>
            <a:ext cx="54864" cy="1170432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0152" y="27614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Noida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307238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5,670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0152" y="34930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03920" y="3986783"/>
            <a:ext cx="1627632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3920" y="3986783"/>
            <a:ext cx="54864" cy="1170432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05993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9E75"/>
                </a:solidFill>
                <a:latin typeface="Calibri"/>
              </a:rPr>
              <a:t>New Delhi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370831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5,641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47914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22992" y="3986783"/>
            <a:ext cx="1627632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22992" y="3986783"/>
            <a:ext cx="54864" cy="1170432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60152" y="4059935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4B4A"/>
                </a:solidFill>
                <a:latin typeface="Calibri"/>
              </a:rPr>
              <a:t>Chennai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0152" y="4370831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1,367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0152" y="47914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VISUALIZATION 03 —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Industry Breakdown — Treemap &amp;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7132320" cy="292608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7132320" cy="2926080"/>
          </a:xfrm>
          <a:prstGeom prst="rect">
            <a:avLst/>
          </a:prstGeom>
          <a:noFill/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1848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📸 SCREENSHOT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424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Tab: 🏭 Industry Breakdown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6858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Show the treemap at the top of Tab 3.
Amazon/Retail rectangle should be visibly largest.
Industry labels clearly readable.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13048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Capture just the treemap — top portion of Tab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407408"/>
            <a:ext cx="7132320" cy="214884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407408"/>
            <a:ext cx="7132320" cy="2148840"/>
          </a:xfrm>
          <a:prstGeom prst="rect">
            <a:avLst/>
          </a:prstGeom>
          <a:noFill/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63600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📸 SCREENSHOT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0176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Tab: 🏭 Industry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0096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Scroll down — capture the India vs Global grouped bar chart.
Education bar should be taller for India than Global.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053328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Bottom of Tab 3 — the grouped bar chart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1389888"/>
            <a:ext cx="402336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90688" y="1389888"/>
            <a:ext cx="54864" cy="8046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3568" y="14813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18105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117,732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90688" y="2322576"/>
            <a:ext cx="402336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90688" y="2322576"/>
            <a:ext cx="54864" cy="804672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73568" y="241401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Hardware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27432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ADD"/>
                </a:solidFill>
                <a:latin typeface="Calibri"/>
              </a:rPr>
              <a:t>111,239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90688" y="3255264"/>
            <a:ext cx="402336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90688" y="3255264"/>
            <a:ext cx="54864" cy="80467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3568" y="334670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Consumer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36758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72B6"/>
                </a:solidFill>
                <a:latin typeface="Calibri"/>
              </a:rPr>
              <a:t>110,027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90688" y="4187952"/>
            <a:ext cx="402336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90688" y="4187952"/>
            <a:ext cx="54864" cy="804672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73568" y="42793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3568" y="46085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9F27"/>
                </a:solidFill>
                <a:latin typeface="Calibri"/>
              </a:rPr>
              <a:t>72,782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90688" y="5120640"/>
            <a:ext cx="4023360" cy="8046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90688" y="5120640"/>
            <a:ext cx="54864" cy="804672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3568" y="521207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554126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9E75"/>
                </a:solidFill>
                <a:latin typeface="Calibri"/>
              </a:rPr>
              <a:t>70,527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VISUALIZATION 04 — TEMPORAL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Temporal Trends — Annotated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11274552" cy="320040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1274552" cy="3200400"/>
          </a:xfrm>
          <a:prstGeom prst="rect">
            <a:avLst/>
          </a:prstGeom>
          <a:noFill/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18488"/>
            <a:ext cx="11000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📸 SCREENSHOT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4248"/>
            <a:ext cx="110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Tab: 📅 Temporal Trends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1100023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Show the monthly bar chart with ALL 5 annotations visible:
• Mar 2020 (COVID-19 lockdown) — amber dotted line
• Oct 2022 (Twitter buyout) — pink dotted line
• Nov 2022 (ChatGPT launched) — green dotted line
• Jan 2023 (Peak month 95K) — red dotted line
• Jan 2024 (Recovery begins) — blue dotted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087368"/>
            <a:ext cx="11000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Make the browser wider before screenshotting so all annotation labels are visible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773168"/>
            <a:ext cx="274320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773168"/>
            <a:ext cx="54864" cy="1417320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864607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4B4A"/>
                </a:solidFill>
                <a:latin typeface="Calibri"/>
              </a:rPr>
              <a:t>300,263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3949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Peak year (2023)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4773168"/>
            <a:ext cx="274320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4773168"/>
            <a:ext cx="54864" cy="14173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4864607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472B6"/>
                </a:solidFill>
                <a:latin typeface="Calibri"/>
              </a:rPr>
              <a:t>95,317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53949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Jan 2023 — worst month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5936" y="4773168"/>
            <a:ext cx="274320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45936" y="4773168"/>
            <a:ext cx="54864" cy="1417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864607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366F1"/>
                </a:solidFill>
                <a:latin typeface="Calibri"/>
              </a:rPr>
              <a:t>5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53949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Key events annotated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90304" y="4773168"/>
            <a:ext cx="2743200" cy="1417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0304" y="4773168"/>
            <a:ext cx="54864" cy="14173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7464" y="4864607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94A3B8"/>
                </a:solidFill>
                <a:latin typeface="Calibri"/>
              </a:rPr>
              <a:t>2020-2026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4" y="53949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Full timeline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VISUALIZATION 05 —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Side-by-Side Comparison Mode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7772400" cy="470916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7772400" cy="4709160"/>
          </a:xfrm>
          <a:prstGeom prst="rect">
            <a:avLst/>
          </a:prstGeom>
          <a:noFill/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18488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📸 SCREENSHOT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424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Tab: ⚖️ Comparison 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7498079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Set Entity A = Google, Entity B = Amazon.
Show the line chart at the top.
Scroll down to show the radar chart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59612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Two screenshots may be needed — line chart + radar separately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389888"/>
            <a:ext cx="3383280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389888"/>
            <a:ext cx="54864" cy="1170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4813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366F1"/>
                </a:solidFill>
                <a:latin typeface="Calibri"/>
              </a:rPr>
              <a:t>Google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011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Entity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688336"/>
            <a:ext cx="3383280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688336"/>
            <a:ext cx="54864" cy="117043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277977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472B6"/>
                </a:solidFill>
                <a:latin typeface="Calibri"/>
              </a:rPr>
              <a:t>Amazon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33101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Entity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986783"/>
            <a:ext cx="3383280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3986783"/>
            <a:ext cx="54864" cy="1170432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4078223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F9F27"/>
                </a:solidFill>
                <a:latin typeface="Calibri"/>
              </a:rPr>
              <a:t>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460857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5-axis profile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5285231"/>
            <a:ext cx="3383280" cy="11704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5285231"/>
            <a:ext cx="54864" cy="1170432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53766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9E75"/>
                </a:solidFill>
                <a:latin typeface="Calibri"/>
              </a:rPr>
              <a:t>Cities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590702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Global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VISUALIZATION 06 —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K-Means Company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7772400" cy="283464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7772400" cy="2834640"/>
          </a:xfrm>
          <a:prstGeom prst="rect">
            <a:avLst/>
          </a:prstGeom>
          <a:noFill/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18488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📸 SCREENSHOT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424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Tab: 🤖 Clustering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74980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Select only 'Serial Downsizers' in the cluster filter.
Show the scatter plot with just that cluster highlighted.
Then re-select all 4 clusters for the final screenshot.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2160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Use the cluster multiselect at the top of Tab 6 to isolate one cluster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15968"/>
            <a:ext cx="7772400" cy="224028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315968"/>
            <a:ext cx="7772400" cy="2240280"/>
          </a:xfrm>
          <a:prstGeom prst="rect">
            <a:avLst/>
          </a:prstGeom>
          <a:noFill/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📸 SCREENSHOT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9103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Tab: 🤖 Clustering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248656"/>
            <a:ext cx="7498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Type 'Byju' in the company lookup search box.
Show the cluster result card that appears.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05332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Bottom of Tab 6 — the company lookup 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1389888"/>
            <a:ext cx="33832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1389888"/>
            <a:ext cx="54864" cy="12344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4813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6366F1"/>
                </a:solidFill>
                <a:latin typeface="Calibri"/>
              </a:rPr>
              <a:t>394 companies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011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Serial Downsizers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2761488"/>
            <a:ext cx="33832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2761488"/>
            <a:ext cx="54864" cy="1234440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28529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378ADD"/>
                </a:solidFill>
                <a:latin typeface="Calibri"/>
              </a:rPr>
              <a:t>1,620 companies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383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Moderate Cutters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4133087"/>
            <a:ext cx="33832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0" y="4133087"/>
            <a:ext cx="54864" cy="123444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4224527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F9F27"/>
                </a:solidFill>
                <a:latin typeface="Calibri"/>
              </a:rPr>
              <a:t>290 companies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75487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Acute Cutters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5504688"/>
            <a:ext cx="33832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0" y="5504688"/>
            <a:ext cx="54864" cy="1234440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5596127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4B4A"/>
                </a:solidFill>
                <a:latin typeface="Calibri"/>
              </a:rPr>
              <a:t>415 companies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612647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Shutdown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914400"/>
            <a:ext cx="6400800" cy="6400800"/>
          </a:xfrm>
          <a:prstGeom prst="ellipse">
            <a:avLst/>
          </a:prstGeom>
          <a:solidFill>
            <a:srgbClr val="16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4B4A"/>
                </a:solidFill>
                <a:latin typeface="Calibri"/>
              </a:rPr>
              <a:t>SECTION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Results, Conclusion &amp;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20440"/>
            <a:ext cx="5029200" cy="36576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Key findings · Summary · Limitations · Planned extensions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Key Findings —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365760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4864" cy="1874519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Post-IPO paradox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33832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Public companies shed 556K jobs — 62% of all layoffs at avg 701 per event. Scale enables mass restructuring impossible at startups.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89888"/>
            <a:ext cx="365760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89888"/>
            <a:ext cx="54864" cy="187451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51790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2023: great reset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20240"/>
            <a:ext cx="33832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300,263 jobs in one year — post-pandemic overcorrection. Companies hired 2× in 2021 then cut 40% of those hires by 2023.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389888"/>
            <a:ext cx="365760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389888"/>
            <a:ext cx="54864" cy="1874519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51790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Jan 2023 shock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3832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95,317 in one month — Amazon, Google, Microsoft, Salesforce announced simultaneously. Rolling avg confirms structural break, not noise.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19856"/>
            <a:ext cx="365760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419856"/>
            <a:ext cx="54864" cy="1874519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47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Industry leaders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50208"/>
            <a:ext cx="33832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Retail (117K) + Hardware (111K) + Consumer (110K) = 33% of global layoffs across just 3 of 30 industries.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419856"/>
            <a:ext cx="365760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419856"/>
            <a:ext cx="54864" cy="1874519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547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325 shutdowns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950208"/>
            <a:ext cx="33832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Companies laid off 100% of staff — peaked at 88 in 2023. The era was as much about closures as cost-cutting.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419856"/>
            <a:ext cx="3657600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3419856"/>
            <a:ext cx="54864" cy="1874519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3547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2026 still ongoing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950208"/>
            <a:ext cx="338328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93,438 already by Apr 2026. Oracle cut 31K alone. The structural correction has not ended.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Key Findings — India &amp;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  <a:latin typeface="Calibri"/>
              </a:rPr>
              <a:t>India: 7.9% of global layoffs (79,913) across 330 events — disproportionately high. Pattern is sector-driven, not purely a global reflection.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657600" cy="16642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" cy="16642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3969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Bengaluru dominates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4203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44,138 laid off — 54% of all India.
Both startup capital and risk epicentre.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011680"/>
            <a:ext cx="3657600" cy="16642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011680"/>
            <a:ext cx="54864" cy="16642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3969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EdTech collapse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4203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Education leads: 16,328 layoffs.
Byju's + Unacademy = over 11,000.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3657600" cy="16642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4864" cy="1664208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6849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Finance pressure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7083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10,390 in Finance — Paytm, CRED,
Razorpay all faced major cuts.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840480"/>
            <a:ext cx="3657600" cy="16642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840480"/>
            <a:ext cx="54864" cy="1664208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96849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2022 India peak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37083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India's EdTech crashed in 2022 —
12 months before the global Big Tech wave.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011680"/>
            <a:ext cx="361188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011680"/>
            <a:ext cx="54864" cy="3657600"/>
          </a:xfrm>
          <a:prstGeom prst="rect">
            <a:avLst/>
          </a:prstGeom>
          <a:solidFill>
            <a:srgbClr val="7F7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214884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77DD"/>
                </a:solidFill>
                <a:latin typeface="Calibri"/>
              </a:rPr>
              <a:t>Clustering (k=4, sil=0.45)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2578608"/>
            <a:ext cx="3246120" cy="3657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0" y="2743200"/>
            <a:ext cx="3337560" cy="65836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0" y="2743200"/>
            <a:ext cx="45720" cy="6583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281635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Serial Downsizers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310896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394 — 70% of volume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3493008"/>
            <a:ext cx="3337560" cy="65836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12480" y="3493008"/>
            <a:ext cx="45720" cy="658368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3566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ADD"/>
                </a:solidFill>
                <a:latin typeface="Calibri"/>
              </a:rPr>
              <a:t>Moderate Cutters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85876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1,620 — most common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242816"/>
            <a:ext cx="3337560" cy="65836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12480" y="4242816"/>
            <a:ext cx="45720" cy="658368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40" y="4315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Acute Cutters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60857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290 — ~90% workforce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0" y="4992624"/>
            <a:ext cx="3337560" cy="658368"/>
          </a:xfrm>
          <a:prstGeom prst="rect">
            <a:avLst/>
          </a:prstGeom>
          <a:solidFill>
            <a:srgbClr val="13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12480" y="4992624"/>
            <a:ext cx="45720" cy="658368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50657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4B4A"/>
                </a:solidFill>
                <a:latin typeface="Calibri"/>
              </a:rPr>
              <a:t>Shutdown Risk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535838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415 — silent closures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Summary &amp;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89888"/>
            <a:ext cx="5623560" cy="1572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4864" cy="157276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Unified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303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6-tab interactive dashboard — global → country → city drill-down, all in one tool on real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389888"/>
            <a:ext cx="5623560" cy="1572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389888"/>
            <a:ext cx="54864" cy="1572768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51790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Real data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920240"/>
            <a:ext cx="5303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4,133 events extracted from raw PDF via regex parser. Cleaned, imputed 946 rows, deployed publicly.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5623560" cy="1572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54864" cy="157276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369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India-first lens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39312"/>
            <a:ext cx="5303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City-level breakdown of India's 79,913 layoffs. EdTech crash 2022 — 12 months before global wave.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108960"/>
            <a:ext cx="5623560" cy="1572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3108960"/>
            <a:ext cx="54864" cy="1572768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2369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Clustering 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639312"/>
            <a:ext cx="5303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14.5% of companies (Serial Downsizers) account for 70%+ of volume — long tail is silent closures.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28031"/>
            <a:ext cx="5623560" cy="1572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828031"/>
            <a:ext cx="54864" cy="1572768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5604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Temporal annotation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58383"/>
            <a:ext cx="5303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Rolling avg + 5 key event markers confirm Jan 2023 as structural break driven by herding behaviour.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828031"/>
            <a:ext cx="5623560" cy="1572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4828031"/>
            <a:ext cx="54864" cy="1572768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95604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Public 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358383"/>
            <a:ext cx="53035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Hosted on Streamlit Cloud. GitHub: ssamanvaya98/layoffs-analytics. Fully reproducible.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5577840" cy="1536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54864" cy="1536192"/>
          </a:xfrm>
          <a:prstGeom prst="rect">
            <a:avLst/>
          </a:prstGeom>
          <a:solidFill>
            <a:srgbClr val="E2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0253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Data completeness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04872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23% of total_laid_off imputed using medians.
Totals are approximate — flagged with is_estimated.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74519"/>
            <a:ext cx="5577840" cy="1536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874519"/>
            <a:ext cx="54864" cy="1536192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0253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Single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04872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Primary data is layoffs.fyi — events missed by
their tracker (smaller markets) are absent.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93591"/>
            <a:ext cx="5577840" cy="1536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93591"/>
            <a:ext cx="54864" cy="1536192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21607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No cause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23944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No column for layoff reason (restructuring vs shutdown).
Clustering infers archetypes from behaviour, not intent.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593591"/>
            <a:ext cx="5577840" cy="1536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593591"/>
            <a:ext cx="54864" cy="1536192"/>
          </a:xfrm>
          <a:prstGeom prst="rect">
            <a:avLst/>
          </a:prstGeom>
          <a:solidFill>
            <a:srgbClr val="7F7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721607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User study pending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23944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Planned usability study (5–7 participants, 5 timed
tasks) has not yet been conducted.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2303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Future Work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596128"/>
            <a:ext cx="37307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596128"/>
            <a:ext cx="54864" cy="10058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65099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Short-term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56509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Conduct user study — 5 tasks, 5–7 participants · Add PPT screenshots (this slide deck)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61688" y="5596128"/>
            <a:ext cx="37307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1688" y="5596128"/>
            <a:ext cx="54864" cy="1005840"/>
          </a:xfrm>
          <a:prstGeom prst="rect">
            <a:avLst/>
          </a:prstGeom>
          <a:solidFill>
            <a:srgbClr val="378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79" y="565099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ADD"/>
                </a:solidFill>
                <a:latin typeface="Calibri"/>
              </a:rPr>
              <a:t>Medium-term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56509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Predictive model — forecast next-quarter layoffs · NLP on headlines to classify layoff causes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66175" y="5596128"/>
            <a:ext cx="37307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66175" y="5596128"/>
            <a:ext cx="54864" cy="100584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0767" y="565099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9F27"/>
                </a:solidFill>
                <a:latin typeface="Calibri"/>
              </a:rPr>
              <a:t>Long-term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36607" y="56509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Real-time data via layoffs.fyi scraper · Expand beyond tech sector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IIT Delhi  ·  Information Visualization (ELL8224)  ·  Entry 2025EEY7601  ·  layoffs-analytics.streamlit.app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1828800"/>
            <a:ext cx="6400800" cy="6400800"/>
          </a:xfrm>
          <a:prstGeom prst="ellipse">
            <a:avLst/>
          </a:prstGeom>
          <a:solidFill>
            <a:srgbClr val="14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457200"/>
            <a:ext cx="4572000" cy="4572000"/>
          </a:xfrm>
          <a:prstGeom prst="ellipse">
            <a:avLst/>
          </a:prstGeom>
          <a:solidFill>
            <a:srgbClr val="12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017520"/>
            <a:ext cx="487375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2E8F0"/>
                </a:solidFill>
                <a:latin typeface="Calibri"/>
              </a:rPr>
              <a:t>Soumya Samanvaya  ·  Entry 2025EEY7601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75887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IIT Delhi  ·  Information Visualization (ELL8224)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33087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Data: layoffs.fyi  ·  Stack: Python · Pandas · Streamlit · Plotly · Scikit-learn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366F1"/>
                </a:solidFill>
                <a:latin typeface="Calibri"/>
              </a:rPr>
              <a:t>🌐  layoffs-analytics-ksw56g9tgg2trnkrdasbcq.streamlit.app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02352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github.com/ssamanvaya98/layoffs-analytics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